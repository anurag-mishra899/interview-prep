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E79"/>
                </a:solidFill>
                <a:latin typeface="Calibri"/>
              </a:rPr>
              <a:t>The AI-Driven Product Management Revolution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595959"/>
                </a:solidFill>
                <a:latin typeface="Calibri"/>
              </a:rPr>
              <a:t>Strategic Investment Case for Executive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787878"/>
                </a:solidFill>
                <a:latin typeface="Calibri"/>
              </a:rPr>
              <a:t>Executive Strategy Brief |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The Situation: A Market in Rapid Transformation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THE COMPETITIVE LANDSCAPE HAS SHIFTED: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94% of product professionals now use AI daily—the transformation is already underway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Job postings for AI-savvy PMs have increased 986% since 2023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Early adopters are shipping products 30-50% faster with 20-40% lower costs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THE STRATEGIC QUESTION: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'It's not whether PMs will lose jobs to AI, but whether they'll lose to PMs who use AI better'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— Product School, 2026 Industry Report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THE BUSINESS IMPACT: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Organizations deploying AI-augmented PMs gain 2-3 year competitive advantage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PM productivity improvements of 1-2 hours daily (260 hours annually per PM)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25-30% reduction in roadmap rework and planning overhead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Faster innovation cycles enabling 50-75% more experiments shipped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THE ORGANIZATIONAL IMPLICATION: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PM roles are evolving from execution → orchestration → strategy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Individual PM capacity will increase 2-10x depending on AI maturity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Teams can deliver more with 30-70% fewer PMs over 3-5 years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THE CHOICE: Lead this transformation or be disrupted by competitors who 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The Complication: Risks of Action vs Inaction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931920" cy="4572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rIns="137160"/>
          <a:lstStyle/>
          <a:p>
            <a:pPr algn="l"/>
            <a:r>
              <a:rPr sz="1400" b="1">
                <a:solidFill>
                  <a:srgbClr val="000000"/>
                </a:solidFill>
                <a:latin typeface="Calibri"/>
              </a:rPr>
              <a:t>RISKS OF MOVING FORWARD</a:t>
            </a:r>
          </a:p>
          <a:p>
            <a:pPr algn="l"/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• Technology Risk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  AI outputs may be low quality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  or misaligned with strategy</a:t>
            </a:r>
          </a:p>
          <a:p>
            <a:pPr algn="l"/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• Organizational Resistance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  PM team fears job loss,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  resists adoption</a:t>
            </a:r>
          </a:p>
          <a:p>
            <a:pPr algn="l"/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• Implementation Complexity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  Multi-agent systems require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  new skills, infrastructure</a:t>
            </a:r>
          </a:p>
          <a:p>
            <a:pPr algn="l"/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• Investment Risk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  $2.6M over 3 years with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  uncertain ROI</a:t>
            </a:r>
          </a:p>
          <a:p>
            <a:pPr algn="l"/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• Talent Loss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  Top PMs may leave during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  uncertain transition</a:t>
            </a:r>
          </a:p>
          <a:p>
            <a:pPr algn="l"/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MITIGATION: Phased approach,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strong change management,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pilot before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188720"/>
            <a:ext cx="3931920" cy="45720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rIns="137160"/>
          <a:lstStyle/>
          <a:p>
            <a:pPr algn="l"/>
            <a:r>
              <a:rPr sz="1400" b="1">
                <a:solidFill>
                  <a:srgbClr val="000000"/>
                </a:solidFill>
                <a:latin typeface="Calibri"/>
              </a:rPr>
              <a:t>RISKS OF STANDING STILL</a:t>
            </a:r>
          </a:p>
          <a:p>
            <a:pPr algn="l"/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• Competitive Disadvantage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  Competitors ship 30-50%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  faster, capture market share</a:t>
            </a:r>
          </a:p>
          <a:p>
            <a:pPr algn="l"/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• Talent Flight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  Best PMs leave for AI-forward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  organizations</a:t>
            </a:r>
          </a:p>
          <a:p>
            <a:pPr algn="l"/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• Cost Inefficiency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  Maintain larger PM teams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  while competitors optimize</a:t>
            </a:r>
          </a:p>
          <a:p>
            <a:pPr algn="l"/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• Innovation Lag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  Slower experimentation cycles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  mean missed opportunities</a:t>
            </a:r>
          </a:p>
          <a:p>
            <a:pPr algn="l"/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• Strategic Irrelevance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  Market moves to AI-native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  products; we fall behind</a:t>
            </a:r>
          </a:p>
          <a:p>
            <a:pPr algn="l"/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IMPACT: Lost market position,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higher costs, talent exodus,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eventual catch-up crisis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The Recommendation: Aggressive, Phased Transformation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STRATEGIC POSITION: Lead the AI-driven PM transformation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CORE THESIS: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The risks of moving forward are manageable through phased implementation.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The risks of inaction are existential and will compound over time.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Early movers gain sustainable competitive advantage that late movers cannot overcome.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RECOMMENDED APPROACH: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PHASE 1 (Months 1-6): Foundation - Deploy AI assistants across PM team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  Investment: $100K | Impact: 5-10 hrs/week saved per PM | Risk: Low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PHASE 2 (Months 7-18): Acceleration - Multi-agent workflow deployment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  Investment: $500K | Impact: 2-3x PM capacity, 30-40% smaller team | Risk: Medium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PHASE 3 (Months 19-36): Transformation - Semi-autonomous systems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  Investment: $2M | Impact: 5-10x capacity, 50-70% smaller team | Risk: Medium-High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TOTAL COMMITMENT: $2.6M over 3 years → $3-4M savings + 5-10x capacity increase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KEY SUCCESS FACTORS: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Executive sponsorship and transparent change management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Pilot → prove → scale methodology (de-risk through learning)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Elevate PM roles (strategic leadership), don't just eliminate them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Use natural attrition for headcount reduction (no layoffs)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Executive Summary: Three-Stage Transformation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THE OPPORTUNITY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Product management is undergoing a once-in-a-generation transformation. AI is not replacing PMs—it's elevating the role from execution to orchestration to strategy. Organizations that move aggressively will gain 2-3 year competitive advantage and 2-10x PM productivity.</a:t>
            </a:r>
          </a:p>
          <a:p>
            <a:pPr algn="l"/>
          </a:p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THE THREE STAGES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1. AUGMENTED (Current): AI assists with tasks. PMs maintain control. 1-2 hrs/day savings.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2. ACCELERATED (2026-28): Multi-agent workflows. PMs orchestrate. 2-3x capacity per PM.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3. SEMI-AUTONOMOUS (2028+): AI-led execution. PMs focus on strategy. 5-10x capacity.</a:t>
            </a:r>
          </a:p>
          <a:p>
            <a:pPr algn="l"/>
          </a:p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THE BUSINESS CASE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• Investment: $2.6M over 3 years (tools, platforms, training, transformation management)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• Returns: $3-4M in cost savings + 5-10x capacity increase + faster time-to-market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• ROI: 150-200% financial + significant strategic value (market share, innovation velocity)</a:t>
            </a:r>
          </a:p>
          <a:p>
            <a:pPr algn="l"/>
          </a:p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THE ORGANIZATIONAL IMPACT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• PM team size: Reduce 30-40% (Accelerated) to 50-70% (Semi-Autonomous) via attrition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• PM roles: Elevate from execution to strategic leadership (VP/executive level)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• New capabilities: Multi-agent systems, AI governance, autonomous product execution</a:t>
            </a:r>
          </a:p>
          <a:p>
            <a:pPr algn="l"/>
          </a:p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THE RECOMMENDATION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Begin Phase 1 immediately. Inaction carries greater risk than action. The window for first-mover advantage is closing rapidly as 94% of PMs already use AI tools.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PM Evolution: From Execution to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377440" cy="3474720"/>
          </a:xfrm>
          <a:prstGeom prst="roundRect">
            <a:avLst/>
          </a:prstGeom>
          <a:solidFill>
            <a:srgbClr val="E8F5E9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109728" rIns="109728"/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AUGMENTED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2024-2026</a:t>
            </a:r>
          </a:p>
          <a:p>
            <a:pPr algn="ctr"/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AI ASSISTS</a:t>
            </a:r>
          </a:p>
          <a:p>
            <a:pPr algn="ctr"/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• PMs use AI tools daily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• Save 1-2 hrs/day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• 70% execution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• 30% strategy</a:t>
            </a:r>
          </a:p>
          <a:p>
            <a:pPr algn="ctr"/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Current state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94% adoption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371600"/>
            <a:ext cx="2377440" cy="3474720"/>
          </a:xfrm>
          <a:prstGeom prst="roundRect">
            <a:avLst/>
          </a:prstGeom>
          <a:solidFill>
            <a:srgbClr val="FFF3E0"/>
          </a:solidFill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109728" rIns="109728"/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ACCELERATED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2026-2028</a:t>
            </a:r>
          </a:p>
          <a:p>
            <a:pPr algn="ctr"/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AI ORCHESTRATES</a:t>
            </a:r>
          </a:p>
          <a:p>
            <a:pPr algn="ctr"/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• Multi-agent workflows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• Save 10-15 hrs/wk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• 50% execution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• 50% strategy</a:t>
            </a:r>
          </a:p>
          <a:p>
            <a:pPr algn="ctr"/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Near future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Early adopters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371600"/>
            <a:ext cx="2377440" cy="3474720"/>
          </a:xfrm>
          <a:prstGeom prst="roundRect">
            <a:avLst/>
          </a:prstGeom>
          <a:solidFill>
            <a:srgbClr val="FFEBEE"/>
          </a:solidFill>
          <a:ln w="381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109728" rIns="109728"/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SEMI-AUTONOMOUS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2028+</a:t>
            </a:r>
          </a:p>
          <a:p>
            <a:pPr algn="ctr"/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AI EXECUTES</a:t>
            </a:r>
          </a:p>
          <a:p>
            <a:pPr algn="ctr"/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• Autonomous systems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• Save 40+ hrs/wk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• 20% execution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• 80% strategy</a:t>
            </a:r>
          </a:p>
          <a:p>
            <a:pPr algn="ctr"/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Future state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Speculative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8046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PM LEVERAGE PROGRESSION</a:t>
            </a:r>
          </a:p>
          <a:p>
            <a:pPr algn="ctr"/>
          </a:p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1 product per PM  →  2-3 products per PM  →  5-10 products per PM</a:t>
            </a:r>
          </a:p>
          <a:p>
            <a:pPr algn="ctr"/>
          </a:p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$2M team cost  →  $1.2M team cost (30-40% reduction)  →  $600K team cost (50-70% reduction)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Why Now: Four Converging Market Forces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1. TECHNOLOGY READINESS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Multi-agent AI systems are production-ready in 2026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Tools like Datadog Experiments, Runner AI demonstrate autonomous capabilities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Research synthesis compressed from days to hours (10-20x improvement)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2. COMPETITIVE PRESSURE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94% of PMs already using AI—the transformation is market standard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Early adopters shipping 30-50% faster with AI-augmented teams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Best PM talent gravitating to AI-forward organizations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3. ECONOMIC IMPERATIVE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Economic uncertainty demands operational efficiency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AI enables delivering more with less (2-10x PM productivity)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$3-4M savings opportunity over 3 years for typical 10-PM team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4. STRATEGIC OPPORTUNITY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First-mover advantage: 2-3 year lead over late adopters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AI-native product experiences becoming user expectation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Window closing: Gartner predicts 40% of enterprise apps will have AI agents by end of 2026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CONVERGENCE INSIGHT: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These four forces rarely align. Organizations that wait will face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a painful catch-up crisis in 12-18 months when transformation becomes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a survival imperative rather than a strategic opportunity.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What Changes: Impact Across Six PM Workstreams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714500"/>
                <a:gridCol w="1714500"/>
                <a:gridCol w="1714500"/>
                <a:gridCol w="1714500"/>
              </a:tblGrid>
              <a:tr h="718457"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Workstream</a:t>
                      </a:r>
                    </a:p>
                  </a:txBody>
                  <a:tcPr anchor="t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Today</a:t>
                      </a:r>
                    </a:p>
                  </a:txBody>
                  <a:tcPr anchor="t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Augmented</a:t>
                      </a:r>
                    </a:p>
                  </a:txBody>
                  <a:tcPr anchor="t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Accelerated</a:t>
                      </a:r>
                    </a:p>
                  </a:txBody>
                  <a:tcPr anchor="t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Semi-Autonomous</a:t>
                      </a:r>
                    </a:p>
                  </a:txBody>
                  <a:tcPr anchor="t">
                    <a:solidFill>
                      <a:srgbClr val="1F4E79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r>
                        <a:rPr b="1" sz="800"/>
                        <a:t>Discovery &amp;</a:t>
                      </a:r>
                    </a:p>
                    <a:p>
                      <a:r>
                        <a:rPr b="1" sz="800"/>
                        <a:t>Research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Manual interviews</a:t>
                      </a:r>
                    </a:p>
                    <a:p>
                      <a:r>
                        <a:rPr sz="800"/>
                        <a:t>Days to synthesize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AI transcription</a:t>
                      </a:r>
                    </a:p>
                    <a:p>
                      <a:r>
                        <a:rPr sz="800"/>
                        <a:t>Hours to synthesize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Multi-agent research</a:t>
                      </a:r>
                    </a:p>
                    <a:p>
                      <a:r>
                        <a:rPr sz="800"/>
                        <a:t>Minutes for insights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Continuous monitoring</a:t>
                      </a:r>
                    </a:p>
                    <a:p>
                      <a:r>
                        <a:rPr sz="800"/>
                        <a:t>Real-time insights</a:t>
                      </a:r>
                    </a:p>
                  </a:txBody>
                  <a:tcPr anchor="t"/>
                </a:tc>
              </a:tr>
              <a:tr h="718457">
                <a:tc>
                  <a:txBody>
                    <a:bodyPr wrap="square"/>
                    <a:lstStyle/>
                    <a:p>
                      <a:r>
                        <a:rPr b="1" sz="800"/>
                        <a:t>Strategy &amp;</a:t>
                      </a:r>
                    </a:p>
                    <a:p>
                      <a:r>
                        <a:rPr b="1" sz="800"/>
                        <a:t>Planning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Manual roadmaps</a:t>
                      </a:r>
                    </a:p>
                    <a:p>
                      <a:r>
                        <a:rPr sz="800"/>
                        <a:t>40 hrs quarterly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AI-assisted RICE</a:t>
                      </a:r>
                    </a:p>
                    <a:p>
                      <a:r>
                        <a:rPr sz="800"/>
                        <a:t>30 hrs quarterly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AI-generated options</a:t>
                      </a:r>
                    </a:p>
                    <a:p>
                      <a:r>
                        <a:rPr sz="800"/>
                        <a:t>8 hrs quarterly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Autonomous planning</a:t>
                      </a:r>
                    </a:p>
                    <a:p>
                      <a:r>
                        <a:rPr sz="800"/>
                        <a:t>2 hrs quarterly</a:t>
                      </a:r>
                    </a:p>
                  </a:txBody>
                  <a:tcPr anchor="t"/>
                </a:tc>
              </a:tr>
              <a:tr h="718457">
                <a:tc>
                  <a:txBody>
                    <a:bodyPr wrap="square"/>
                    <a:lstStyle/>
                    <a:p>
                      <a:r>
                        <a:rPr b="1" sz="800"/>
                        <a:t>Documentation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Manual PRD writing</a:t>
                      </a:r>
                    </a:p>
                    <a:p>
                      <a:r>
                        <a:rPr sz="800"/>
                        <a:t>8-10 hrs per doc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AI draft + edit</a:t>
                      </a:r>
                    </a:p>
                    <a:p>
                      <a:r>
                        <a:rPr sz="800"/>
                        <a:t>4-5 hrs per doc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AI-generated specs</a:t>
                      </a:r>
                    </a:p>
                    <a:p>
                      <a:r>
                        <a:rPr sz="800"/>
                        <a:t>1-2 hrs review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Autonomous specs</a:t>
                      </a:r>
                    </a:p>
                    <a:p>
                      <a:r>
                        <a:rPr sz="800"/>
                        <a:t>30 min approval</a:t>
                      </a:r>
                    </a:p>
                  </a:txBody>
                  <a:tcPr anchor="t"/>
                </a:tc>
              </a:tr>
              <a:tr h="718457">
                <a:tc>
                  <a:txBody>
                    <a:bodyPr wrap="square"/>
                    <a:lstStyle/>
                    <a:p>
                      <a:r>
                        <a:rPr b="1" sz="800"/>
                        <a:t>Data &amp;</a:t>
                      </a:r>
                    </a:p>
                    <a:p>
                      <a:r>
                        <a:rPr b="1" sz="800"/>
                        <a:t>Analytics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Manual SQL/analysis</a:t>
                      </a:r>
                    </a:p>
                    <a:p>
                      <a:r>
                        <a:rPr sz="800"/>
                        <a:t>10 hrs/week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AI writes queries</a:t>
                      </a:r>
                    </a:p>
                    <a:p>
                      <a:r>
                        <a:rPr sz="800"/>
                        <a:t>7 hrs/week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Autonomous testing</a:t>
                      </a:r>
                    </a:p>
                    <a:p>
                      <a:r>
                        <a:rPr sz="800"/>
                        <a:t>3 hrs/week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Self-optimizing</a:t>
                      </a:r>
                    </a:p>
                    <a:p>
                      <a:r>
                        <a:rPr sz="800"/>
                        <a:t>30 min/week</a:t>
                      </a:r>
                    </a:p>
                  </a:txBody>
                  <a:tcPr anchor="t"/>
                </a:tc>
              </a:tr>
              <a:tr h="718457">
                <a:tc>
                  <a:txBody>
                    <a:bodyPr wrap="square"/>
                    <a:lstStyle/>
                    <a:p>
                      <a:r>
                        <a:rPr b="1" sz="800"/>
                        <a:t>Communication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Manual updates</a:t>
                      </a:r>
                    </a:p>
                    <a:p>
                      <a:r>
                        <a:rPr sz="800"/>
                        <a:t>8 hrs/week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AI-drafted emails</a:t>
                      </a:r>
                    </a:p>
                    <a:p>
                      <a:r>
                        <a:rPr sz="800"/>
                        <a:t>5 hrs/week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Auto-generated</a:t>
                      </a:r>
                    </a:p>
                    <a:p>
                      <a:r>
                        <a:rPr sz="800"/>
                        <a:t>2 hrs/week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Autonomous comms</a:t>
                      </a:r>
                    </a:p>
                    <a:p>
                      <a:r>
                        <a:rPr sz="800"/>
                        <a:t>30 min/week</a:t>
                      </a:r>
                    </a:p>
                  </a:txBody>
                  <a:tcPr anchor="t"/>
                </a:tc>
              </a:tr>
              <a:tr h="718458">
                <a:tc>
                  <a:txBody>
                    <a:bodyPr wrap="square"/>
                    <a:lstStyle/>
                    <a:p>
                      <a:r>
                        <a:rPr b="1" sz="900"/>
                        <a:t>Impact Summary</a:t>
                      </a:r>
                    </a:p>
                  </a:txBody>
                  <a:tcPr anchor="t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/>
                        <a:t>Baseline</a:t>
                      </a:r>
                    </a:p>
                  </a:txBody>
                  <a:tcPr anchor="t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/>
                        <a:t>+20-30%</a:t>
                      </a:r>
                    </a:p>
                    <a:p>
                      <a:r>
                        <a:rPr b="1" sz="900"/>
                        <a:t>productivity</a:t>
                      </a:r>
                    </a:p>
                  </a:txBody>
                  <a:tcPr anchor="t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/>
                        <a:t>+200-300%</a:t>
                      </a:r>
                    </a:p>
                    <a:p>
                      <a:r>
                        <a:rPr b="1" sz="900"/>
                        <a:t>productivity</a:t>
                      </a:r>
                    </a:p>
                  </a:txBody>
                  <a:tcPr anchor="t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/>
                        <a:t>+500-1000%</a:t>
                      </a:r>
                    </a:p>
                    <a:p>
                      <a:r>
                        <a:rPr b="1" sz="900"/>
                        <a:t>productivity</a:t>
                      </a:r>
                    </a:p>
                  </a:txBody>
                  <a:tcPr anchor="t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How It Works: Product Roadmap Planning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931920" cy="5029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rIns="137160"/>
          <a:lstStyle/>
          <a:p>
            <a:pPr algn="l"/>
            <a:r>
              <a:rPr sz="1300" b="1">
                <a:solidFill>
                  <a:srgbClr val="000000"/>
                </a:solidFill>
                <a:latin typeface="Calibri"/>
              </a:rPr>
              <a:t>BEFORE: MANUAL PROCESS</a:t>
            </a:r>
          </a:p>
          <a:p>
            <a:pPr algn="l"/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Quarterly Planning Sprint:</a:t>
            </a:r>
          </a:p>
          <a:p>
            <a:pPr algn="l"/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Week 1: Gather inputs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• Meet 15 stakeholders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• Review 200 feature requests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• Analyze usage data manually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• Research 5 competitors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Time: 20 hours</a:t>
            </a:r>
          </a:p>
          <a:p>
            <a:pPr algn="l"/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Week 2-3: Analysis &amp; Scoring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• Manually score 50 features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• Build financial models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• Create dependency maps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• Generate 3 scenarios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Time: 30 hours</a:t>
            </a:r>
          </a:p>
          <a:p>
            <a:pPr algn="l"/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Week 4: Communication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• Create roadmap deck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• Write stakeholder emails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• Present to leadership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• Document decisions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Time: 10 hours</a:t>
            </a:r>
          </a:p>
          <a:p>
            <a:pPr algn="l"/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TOTAL: 60 hours per quarter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ERROR RATE: 25-30% rework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188720"/>
            <a:ext cx="3931920" cy="50292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rIns="137160"/>
          <a:lstStyle/>
          <a:p>
            <a:pPr algn="l"/>
            <a:r>
              <a:rPr sz="1300" b="1">
                <a:solidFill>
                  <a:srgbClr val="2E7D32"/>
                </a:solidFill>
                <a:latin typeface="Calibri"/>
              </a:rPr>
              <a:t>AFTER: AI-ACCELERATED</a:t>
            </a:r>
          </a:p>
          <a:p>
            <a:pPr algn="l"/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Quarterly Planning Sprint:</a:t>
            </a:r>
          </a:p>
          <a:p>
            <a:pPr algn="l"/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Day 1: Set objectives for AI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• Define strategic priorities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• Set constraints/guardrails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• Provide context to AI agents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Time: 2 hours (PM)</a:t>
            </a:r>
          </a:p>
          <a:p>
            <a:pPr algn="l"/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Day 2-3: AI agents work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• Research agent gathers inputs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• Strategy agent analyzes data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• Planning agent scores features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• Model agent builds scenarios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Time: 0 hours (PM) - autonomous</a:t>
            </a:r>
          </a:p>
          <a:p>
            <a:pPr algn="l"/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Day 4: Review &amp; decide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• PM reviews 5 AI-generated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  roadmap options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• Selects preferred scenario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• Approves or refines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Time: 4 hours (PM)</a:t>
            </a:r>
          </a:p>
          <a:p>
            <a:pPr algn="l"/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Day 5: Communication (auto)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• AI generates stakeholder deck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• AI drafts announcement emails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• PM approves communications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Time: 2 hours (PM)</a:t>
            </a:r>
          </a:p>
          <a:p>
            <a:pPr algn="l"/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TOTAL: 8 hours per quarter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ERROR RATE: 5-10% rework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Investment Case: $2.6M → $3-4M Savings + Strategic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371600"/>
                <a:gridCol w="2926080"/>
                <a:gridCol w="155448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anchor="t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 anchor="t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Investment</a:t>
                      </a:r>
                    </a:p>
                  </a:txBody>
                  <a:tcPr anchor="t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 anchor="t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ROI</a:t>
                      </a:r>
                    </a:p>
                  </a:txBody>
                  <a:tcPr anchor="t">
                    <a:solidFill>
                      <a:srgbClr val="1F4E7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900"/>
                        <a:t>Phase 1</a:t>
                      </a:r>
                    </a:p>
                    <a:p>
                      <a:r>
                        <a:rPr sz="900"/>
                        <a:t>Foundation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Months 1-6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$100K</a:t>
                      </a:r>
                    </a:p>
                    <a:p>
                      <a:r>
                        <a:rPr sz="900"/>
                        <a:t>(Tools + Training)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• 5-10 hrs/wk saved per PM</a:t>
                      </a:r>
                    </a:p>
                    <a:p>
                      <a:r>
                        <a:rPr sz="900"/>
                        <a:t>• 20% faster documentation</a:t>
                      </a:r>
                    </a:p>
                    <a:p>
                      <a:r>
                        <a:rPr sz="900"/>
                        <a:t>• Same team size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200-400%</a:t>
                      </a:r>
                    </a:p>
                    <a:p>
                      <a:r>
                        <a:rPr sz="900"/>
                        <a:t>Immediate productivity</a:t>
                      </a:r>
                    </a:p>
                  </a:txBody>
                  <a:tcPr anchor="t"/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900"/>
                        <a:t>Phase 2</a:t>
                      </a:r>
                    </a:p>
                    <a:p>
                      <a:r>
                        <a:rPr sz="900"/>
                        <a:t>Acceleration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Months 7-18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$500K</a:t>
                      </a:r>
                    </a:p>
                    <a:p>
                      <a:r>
                        <a:rPr sz="900"/>
                        <a:t>(Platform + Architects)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• 2-3x capacity per PM</a:t>
                      </a:r>
                    </a:p>
                    <a:p>
                      <a:r>
                        <a:rPr sz="900"/>
                        <a:t>• 30-40% smaller team</a:t>
                      </a:r>
                    </a:p>
                    <a:p>
                      <a:r>
                        <a:rPr sz="900"/>
                        <a:t>• $800K annual savings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250% year 1</a:t>
                      </a:r>
                    </a:p>
                    <a:p>
                      <a:r>
                        <a:rPr sz="900"/>
                        <a:t>$800K/yr ongoing</a:t>
                      </a:r>
                    </a:p>
                  </a:txBody>
                  <a:tcPr anchor="t"/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900"/>
                        <a:t>Phase 3</a:t>
                      </a:r>
                    </a:p>
                    <a:p>
                      <a:r>
                        <a:rPr sz="900"/>
                        <a:t>Transformation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Months 19-36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$2M</a:t>
                      </a:r>
                    </a:p>
                    <a:p>
                      <a:r>
                        <a:rPr sz="900"/>
                        <a:t>(Autonomous + Change)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• 5-10x capacity per PM</a:t>
                      </a:r>
                    </a:p>
                    <a:p>
                      <a:r>
                        <a:rPr sz="900"/>
                        <a:t>• 50-70% smaller team</a:t>
                      </a:r>
                    </a:p>
                    <a:p>
                      <a:r>
                        <a:rPr sz="900"/>
                        <a:t>• $1.2M annual savings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100% year 1</a:t>
                      </a:r>
                    </a:p>
                    <a:p>
                      <a:r>
                        <a:rPr sz="900"/>
                        <a:t>$1.2M/yr ongoing</a:t>
                      </a:r>
                    </a:p>
                  </a:txBody>
                  <a:tcPr anchor="t"/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b="1" sz="900"/>
                        <a:t>TOTAL</a:t>
                      </a:r>
                    </a:p>
                  </a:txBody>
                  <a:tcPr anchor="t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/>
                        <a:t>36 months</a:t>
                      </a:r>
                    </a:p>
                  </a:txBody>
                  <a:tcPr anchor="t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/>
                        <a:t>$2.6M</a:t>
                      </a:r>
                    </a:p>
                  </a:txBody>
                  <a:tcPr anchor="t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/>
                        <a:t>5-10x capacity increase</a:t>
                      </a:r>
                    </a:p>
                    <a:p>
                      <a:r>
                        <a:rPr b="1" sz="900"/>
                        <a:t>$3-4M cost savings</a:t>
                      </a:r>
                    </a:p>
                    <a:p>
                      <a:r>
                        <a:rPr b="1" sz="900"/>
                        <a:t>20-70% faster shipping</a:t>
                      </a:r>
                    </a:p>
                  </a:txBody>
                  <a:tcPr anchor="t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/>
                        <a:t>150-200%</a:t>
                      </a:r>
                    </a:p>
                    <a:p>
                      <a:r>
                        <a:rPr b="1" sz="900"/>
                        <a:t>Financial + Strategic</a:t>
                      </a:r>
                    </a:p>
                  </a:txBody>
                  <a:tcPr anchor="t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i="1"/>
            </a:pPr>
            <a:r>
              <a:rPr sz="1000" b="0">
                <a:solidFill>
                  <a:srgbClr val="787878"/>
                </a:solidFill>
                <a:latin typeface="Calibri"/>
              </a:rPr>
              <a:t>Note: Financial ROI does not include strategic value (faster time-to-market, increased innovation capacity, competitive advantage). Total value significantly exceeds financial returns alone.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Organizational Impact: From Execution to Strategic Leadership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THE FUNDAMENTAL SHIFT IN PM ROLE: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TODAY: Execution-Heavy Role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PMs spend 70% of time on execution (docs, meetings, coordination)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30% on strategy (vision, prioritization, stakeholder alignment)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1 PM manages 1 product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Value creation bottlenecked by PM execution capacity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TOMORROW: Strategy-Focused Role (Accelerated → Semi-Autonomous)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PMs spend 50-80% of time on strategy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AI handles execution (research, documentation, analysis, communication)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1 PM oversees 2-10 products depending on AI maturity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Value creation multiplied by AI leverage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TEAM SIZE EVOLUTION: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Baseline: 10 PMs managing 10 products at $2M annual cost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Accelerated: 6-7 PMs managing 20-30 products at $1.2M annual cost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Semi-Autonomous: 3-5 PMs managing 50-100 products at $600K-1M annual cost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ROLE ELEVATION: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Current: IC → Senior → Staff → Principal PM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Future: Senior PM → Strategic PM → Director → VP Product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Remaining PMs become higher-level strategic leaders, not executors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CHANGE MANAGEMENT IMPERATIVE: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Use natural attrition for headcount reduction (no layoffs required)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Invest in upskilling: strategic thinking, AI orchestration, governance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Transparent communication about transition timeline and role evolution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Critical Success Factors: What Separates Winners from Losers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1. EXECUTIVE SPONSORSHIP &amp; VISIBLE COMMITMENT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CEO/CPO must champion transformation and model AI adoption personally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Set tone from top: 'We're leading this change, not being disrupted by it'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2. TRANSPARENT CHANGE MANAGEMENT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Honest communication: roles will evolve, team will shrink via attrition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Frame as elevation (strategic leadership) not elimination (job loss)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Invest in PM upskilling, show clear career path forward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3. PILOT → PROVE → SCALE METHODOLOGY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Start with low-risk, high-value workflows (research synthesis, documentation)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Prove ROI with 2-3 pilot PMs before broad rollout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Scale only what's demonstrably working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4. GOVERNANCE BEFORE AUTONOMY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Establish human oversight, quality standards, audit trails from day 1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Create exception handling processes before deploying autonomous systems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Ethics, bias detection, and safety frameworks are non-negotiable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5. FOCUS ON BUSINESS OUTCOMES, NOT TECHNOLOGY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Measure success by: time-to-market, innovation velocity, PM capacity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Not by: AI adoption rate or tools deployed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Technology is means to end, not the end itself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6. MOVE FAST ON PHASE 1, THOUGHTFUL ON PHASE 2-3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Augmented stage is competitive necessity—move immediately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Accelerated stage requires organizational readiness—take time to prepare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Semi-Autonomous stage may not be ready—watch and learn from early adopters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Risk Management: Anticipating and Addressing Key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97280"/>
                <a:gridCol w="914400"/>
                <a:gridCol w="3931920"/>
              </a:tblGrid>
              <a:tr h="807720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 anchor="t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Probability</a:t>
                      </a:r>
                    </a:p>
                  </a:txBody>
                  <a:tcPr anchor="t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 anchor="t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Mitigation Strategy</a:t>
                      </a:r>
                    </a:p>
                  </a:txBody>
                  <a:tcPr anchor="t">
                    <a:solidFill>
                      <a:srgbClr val="1F4E79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r>
                        <a:rPr sz="900"/>
                        <a:t>AI Output Quality</a:t>
                      </a:r>
                    </a:p>
                    <a:p>
                      <a:r>
                        <a:rPr sz="900"/>
                        <a:t>(Hallucinations, errors)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High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High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• Human review gates at decision points</a:t>
                      </a:r>
                    </a:p>
                    <a:p>
                      <a:r>
                        <a:rPr sz="900"/>
                        <a:t>• Quality scoring and confidence thresholds</a:t>
                      </a:r>
                    </a:p>
                    <a:p>
                      <a:r>
                        <a:rPr sz="900"/>
                        <a:t>• Start with low-risk workflows first</a:t>
                      </a:r>
                    </a:p>
                  </a:txBody>
                  <a:tcPr anchor="t"/>
                </a:tc>
              </a:tr>
              <a:tr h="807720">
                <a:tc>
                  <a:txBody>
                    <a:bodyPr wrap="square"/>
                    <a:lstStyle/>
                    <a:p>
                      <a:r>
                        <a:rPr sz="900"/>
                        <a:t>Organizational Resistance</a:t>
                      </a:r>
                    </a:p>
                    <a:p>
                      <a:r>
                        <a:rPr sz="900"/>
                        <a:t>(PM team pushback)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High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Medium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• Transparent communication</a:t>
                      </a:r>
                    </a:p>
                    <a:p>
                      <a:r>
                        <a:rPr sz="900"/>
                        <a:t>• Use attrition not layoffs</a:t>
                      </a:r>
                    </a:p>
                    <a:p>
                      <a:r>
                        <a:rPr sz="900"/>
                        <a:t>• Elevate remaining roles</a:t>
                      </a:r>
                    </a:p>
                    <a:p>
                      <a:r>
                        <a:rPr sz="900"/>
                        <a:t>• Visible executive support</a:t>
                      </a:r>
                    </a:p>
                  </a:txBody>
                  <a:tcPr anchor="t"/>
                </a:tc>
              </a:tr>
              <a:tr h="807720">
                <a:tc>
                  <a:txBody>
                    <a:bodyPr wrap="square"/>
                    <a:lstStyle/>
                    <a:p>
                      <a:r>
                        <a:rPr sz="900"/>
                        <a:t>Talent Loss</a:t>
                      </a:r>
                    </a:p>
                    <a:p>
                      <a:r>
                        <a:rPr sz="900"/>
                        <a:t>(Top PMs leave)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Medium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High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• Position as opportunity not threat</a:t>
                      </a:r>
                    </a:p>
                    <a:p>
                      <a:r>
                        <a:rPr sz="900"/>
                        <a:t>• Higher comp for strategic roles</a:t>
                      </a:r>
                    </a:p>
                    <a:p>
                      <a:r>
                        <a:rPr sz="900"/>
                        <a:t>• Clear career elevation path</a:t>
                      </a:r>
                    </a:p>
                    <a:p>
                      <a:r>
                        <a:rPr sz="900"/>
                        <a:t>• Move faster than market</a:t>
                      </a:r>
                    </a:p>
                  </a:txBody>
                  <a:tcPr anchor="t"/>
                </a:tc>
              </a:tr>
              <a:tr h="807720">
                <a:tc>
                  <a:txBody>
                    <a:bodyPr wrap="square"/>
                    <a:lstStyle/>
                    <a:p>
                      <a:r>
                        <a:rPr sz="900"/>
                        <a:t>Technology Not Ready</a:t>
                      </a:r>
                    </a:p>
                    <a:p>
                      <a:r>
                        <a:rPr sz="900"/>
                        <a:t>(AI capabilities insufficient)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Low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Critical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• Pilot extensively before scale</a:t>
                      </a:r>
                    </a:p>
                    <a:p>
                      <a:r>
                        <a:rPr sz="900"/>
                        <a:t>• Phase 2-3 optional based on Phase 1</a:t>
                      </a:r>
                    </a:p>
                    <a:p>
                      <a:r>
                        <a:rPr sz="900"/>
                        <a:t>• Build vs buy optionality</a:t>
                      </a:r>
                    </a:p>
                  </a:txBody>
                  <a:tcPr anchor="t"/>
                </a:tc>
              </a:tr>
              <a:tr h="807720">
                <a:tc>
                  <a:txBody>
                    <a:bodyPr wrap="square"/>
                    <a:lstStyle/>
                    <a:p>
                      <a:r>
                        <a:rPr sz="900"/>
                        <a:t>Strategic Misalignment</a:t>
                      </a:r>
                    </a:p>
                    <a:p>
                      <a:r>
                        <a:rPr sz="900"/>
                        <a:t>(AI optimizes wrong goals)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Medium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Critical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• Clear objective function design</a:t>
                      </a:r>
                    </a:p>
                    <a:p>
                      <a:r>
                        <a:rPr sz="900"/>
                        <a:t>• Quarterly strategic reviews</a:t>
                      </a:r>
                    </a:p>
                    <a:p>
                      <a:r>
                        <a:rPr sz="900"/>
                        <a:t>• Override mechanisms</a:t>
                      </a:r>
                    </a:p>
                    <a:p>
                      <a:r>
                        <a:rPr sz="900"/>
                        <a:t>• Human final authority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Competitive Positioning: First-Mover Advantage Window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3657600"/>
            <a:ext cx="6400800" cy="27432"/>
          </a:xfrm>
          <a:prstGeom prst="rect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1371600"/>
            <a:ext cx="27432" cy="4572000"/>
          </a:xfrm>
          <a:prstGeom prst="rect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6035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AI Maturity (Low → High)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274320" y="2743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Competitive</a:t>
            </a:r>
          </a:p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49039"/>
            <a:ext cx="3108960" cy="2194560"/>
          </a:xfrm>
          <a:prstGeom prst="rect">
            <a:avLst/>
          </a:prstGeom>
          <a:solidFill>
            <a:srgbClr val="FFEBEE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LAGGARDS</a:t>
            </a:r>
          </a:p>
          <a:p>
            <a:pPr algn="ctr"/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Slow to adopt AI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Losing market share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Talent exodus</a:t>
            </a:r>
          </a:p>
          <a:p>
            <a:pPr algn="ctr"/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RISK: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749039"/>
            <a:ext cx="3108960" cy="2194560"/>
          </a:xfrm>
          <a:prstGeom prst="rect">
            <a:avLst/>
          </a:prstGeom>
          <a:solidFill>
            <a:srgbClr val="FFF3E0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FOLLOWERS</a:t>
            </a:r>
          </a:p>
          <a:p>
            <a:pPr algn="ctr"/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Adopting AI reactively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Me-too positioning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No advantage</a:t>
            </a:r>
          </a:p>
          <a:p>
            <a:pPr algn="ctr"/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RISK: Medium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71600"/>
            <a:ext cx="3108960" cy="2194560"/>
          </a:xfrm>
          <a:prstGeom prst="rect">
            <a:avLst/>
          </a:prstGeom>
          <a:solidFill>
            <a:srgbClr val="E8F5E9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EARLY ADOPTERS</a:t>
            </a:r>
          </a:p>
          <a:p>
            <a:pPr algn="ctr"/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Strategic pilots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Building capability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Positioning for lead</a:t>
            </a:r>
          </a:p>
          <a:p>
            <a:pPr algn="ctr"/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OPPORTUNITY: Medium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371600"/>
            <a:ext cx="3108960" cy="2194560"/>
          </a:xfrm>
          <a:prstGeom prst="rect">
            <a:avLst/>
          </a:prstGeom>
          <a:solidFill>
            <a:srgbClr val="C8E6C9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LEADERS</a:t>
            </a:r>
          </a:p>
          <a:p>
            <a:pPr algn="ctr"/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Aggressive deployment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2-3 year advantage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Market share gains</a:t>
            </a:r>
          </a:p>
          <a:p>
            <a:pPr algn="ctr"/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OPPORTUNITY: 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926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D32F2F"/>
                </a:solidFill>
                <a:latin typeface="Calibri"/>
              </a:rPr>
              <a:t>◄ YOU ARE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86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TARGET POSITION →</a:t>
            </a:r>
          </a:p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Move aggressively to Leaders quadrant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Action Plan: First 30 Days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WEEK 1: ASSESSMENT &amp; ALIGNMENT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Form executive steering committee (CEO, CPO, CTO, CFO, CHRO)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Conduct current state assessment: PM tool usage, productivity baselines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Identify 3 high-value, low-risk pilot workflows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Align leadership on strategic choice: lead vs follow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WEEK 2: QUICK WINS &amp; PLANNING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Deploy meeting transcription (Otter.ai/Grain) - immediate 2-3 hrs/week savings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Provide ChatGPT/Claude Team licenses to all PMs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Schedule 2-day PM workshop on AI tools and prompt engineering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Draft 6-month Phase 1 implementation plan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WEEK 3: RESOURCE COMMITMENT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Secure $100K budget for Phase 1 (tools, training, consultants)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Assign transformation lead (senior PM or hire AI PM architect)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Begin vendor evaluation for research synthesis tools (Dovetail, NotebookLM)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Create communication plan for PM team (address concerns transparently)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WEEK 4: LAUNCH &amp; COMMUNICATE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Deliver PM training workshop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Launch pilot workflows with 2-3 PMs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Town hall: CEO presents vision and rationale to PM team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Establish success metrics and tracking dashboard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DECISION POINT (Day 30): Go/no-go on full Phase 1 rollout based on pilot results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DELIVERABLES BY DAY 30: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Steering committee operational | → Pilots launched | → Team trained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Budget secured | → Communication plan executed | → Success metrics defined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Action Plan: 6-Month Milestones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MONTH 1-2: FOUNDATION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Deploy core AI tools across entire PM team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Complete training and establish prompt library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Measure baseline vs AI-assisted productivity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Target: 80% daily AI usage, 5 hrs/week savings per PM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MONTH 3-4: INTEGRATION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Integrate AI into research synthesis (Dovetail + NotebookLM)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Deploy AI-assisted documentation (Notion AI, Confluence AI)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Enable AI analytics capabilities (SQL generation, insights)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Target: 20-30% faster research and documentation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MONTH 5-6: OPTIMIZATION &amp; PLANNING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Refine workflows based on PM feedback and usage data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Measure comprehensive impact: time, quality, PM satisfaction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Evaluate Phase 1 success against targets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Begin Phase 2 planning (multi-agent pilots)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Target: 5-10 hrs/week average savings, 80%+ PM satisfaction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DECISION POINT (Month 6):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Based on Phase 1 results, decide: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FULL SPEED AHEAD: Phase 1 exceeded targets → accelerate to Phase 2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OPTIMIZE &amp; EXTEND: Phase 1 met targets → continue optimizing, plan Phase 2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REASSESS: Phase 1 missed targets → diagnose issues, adjust approach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SUCCESS CRITERIA FOR PHASE 2 GO-AHEAD: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80%+ PM daily AI usage achieved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5-10 hrs/week productivity gains measured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PM satisfaction &gt;70% (not resistant to change)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Quality maintained or improved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Executive alignment on Phase 2 investment ($500K)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Alternatives Considered: Why Aggressive Phased Approach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ALTERNATIVE 1: Do Nothing (Status Quo)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Pros: No investment, no change management risk, no organizational disruption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Cons: Competitors gain 2-3 year advantage, lose top PM talent, higher costs, market share erosion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Verdict: REJECTED - Risks of inaction exceed risks of action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ALTERNATIVE 2: Wait and See (Follower Strategy)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Pros: Learn from early adopter mistakes, let technology mature, reduced risk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Cons: First-mover advantage window closes, talent leaves for AI-forward orgs, play catch-up in crisis mode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Verdict: REJECTED - Window for competitive advantage closing rapidly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ALTERNATIVE 3: Slow/Conservative Rollout (5-year timeline)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Pros: Lower change management risk, more time for adaptation, easier on organization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Cons: Competitors move faster, opportunity cost of delayed savings, gradual talent erosion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Verdict: REJECTED - Market moving too fast for conservative approach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ALTERNATIVE 4: Only Phase 1 (Augmented), Skip Phase 2-3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Pros: Low risk, immediate ROI, no major organizational change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Cons: Only 20-30% productivity gain, competitors who go further gain advantage, miss strategic value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Verdict: VIABLE FALLBACK - Phase 1 is minimum viable, Phase 2-3 optional based on results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RECOMMENDED: Aggressive Phased Approach (Commit to Phase 1-2, Option on Phase 3)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Pros: First-mover advantage, full ROI capture, strategic transformation, talent attraction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Cons: Higher investment, change management complexity, some organizational disruption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Mitigation: Phased approach allows learning and adjustment, natural attrition reduces headcount impact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Verdict: RECOMMENDED - Best risk/reward balance given market dynamics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Decision Framework: Key Questions for Leadership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STRATEGIC QUESTIONS TO ANSWER:</a:t>
            </a:r>
          </a:p>
          <a:p>
            <a:pPr algn="l"/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1. COMPETITIVE STANCE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 Q: Do we want to lead this transformation or follow?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 Implication: Leaders gain 2-3 year advantage; followers play catch-up</a:t>
            </a:r>
          </a:p>
          <a:p>
            <a:pPr algn="l"/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2. RISK TOLERANCE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 Q: Are we willing to accept organizational disruption for strategic advantage?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 Implication: Aggressive approach = higher short-term disruption, higher long-term value</a:t>
            </a:r>
          </a:p>
          <a:p>
            <a:pPr algn="l"/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3. PM TEAM PHILOSOPHY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 Q: Do we view PMs as executors or strategic leaders?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 Implication: Execution-focused PMs won't survive; strategic PMs will thrive and multiply impact</a:t>
            </a:r>
          </a:p>
          <a:p>
            <a:pPr algn="l"/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4. INVESTMENT APPETITE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 Q: Can we commit $2.6M over 3 years for $3-4M returns + strategic value?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 Implication: ROI is strong but requires multi-year commitment</a:t>
            </a:r>
          </a:p>
          <a:p>
            <a:pPr algn="l"/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5. CHANGE MANAGEMENT CAPACITY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 Q: Can leadership manage a 30-70% PM headcount reduction over 3-5 years?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 Implication: Requires transparent communication, executive sponsorship, talent management</a:t>
            </a:r>
          </a:p>
          <a:p>
            <a:pPr algn="l"/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6. TECHNOLOGY READINESS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 Q: Do we have data infrastructure and technical capabilities to support multi-agent AI?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 Implication: Phase 1 requires minimal tech; Phase 2-3 require platform investment</a:t>
            </a:r>
          </a:p>
          <a:p>
            <a:pPr algn="l"/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RECOMMENDED DECISION CRITERIA: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✓ If you answer "yes" to questions 1-4: Proceed with full Phase 1-3 roadmap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✓ If you answer "partial yes" to 1-4: Proceed with Phase 1, option on Phase 2-3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✓ If you answer "no" to questions 1-2: Expect to be disrupted by competitors within 18-24 months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What We're Asking For: Executive Commitment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IMMEDIATE (Next 30 Days):</a:t>
            </a:r>
          </a:p>
          <a:p>
            <a:pPr algn="l"/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1. STRATEGIC DECISION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 → Go/no-go on Phase 1 implementation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 → Commitment to lead (not follow) AI-driven PM transformation</a:t>
            </a:r>
          </a:p>
          <a:p>
            <a:pPr algn="l"/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2. FINANCIAL COMMITMENT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 → Approve $100K for Phase 1 (Months 1-6)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 → Provisional approval of $2.6M for full 3-year roadmap (pending Phase 1 success)</a:t>
            </a:r>
          </a:p>
          <a:p>
            <a:pPr algn="l"/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3. ORGANIZATIONAL COMMITMENT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 → Form executive steering committee (CEO, CPO, CTO, CFO, CHRO)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 → Assign transformation lead (senior PM or hire AI architect)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 → Commit executive time: monthly steering meetings, quarterly reviews</a:t>
            </a:r>
          </a:p>
          <a:p>
            <a:pPr algn="l"/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4. COMMUNICATION COMMITMENT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 → CEO/CPO town hall to announce transformation and rationale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 → Transparent messaging: roles evolve, team shrinks via attrition, remaining PMs elevated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 → Visible executive modeling of AI adoption</a:t>
            </a:r>
          </a:p>
          <a:p>
            <a:pPr algn="l"/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NEAR-TERM (Months 6-18):</a:t>
            </a:r>
          </a:p>
          <a:p>
            <a:pPr algn="l"/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5. PHASE 2 INVESTMENT DECISION (Month 6)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 → Based on Phase 1 results, approve $500K for multi-agent deployment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 → Commit to 30-40% PM headcount reduction via attrition</a:t>
            </a:r>
          </a:p>
          <a:p>
            <a:pPr algn="l"/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LONG-TERM (Months 18-36):</a:t>
            </a:r>
          </a:p>
          <a:p>
            <a:pPr algn="l"/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6. PHASE 3 INVESTMENT DECISION (Month 18)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 → Based on market maturity and Phase 2 results, decide on autonomous systems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 → Potential $2M investment for full transformation</a:t>
            </a:r>
          </a:p>
          <a:p>
            <a:pPr algn="l"/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WHAT WE'RE NOT ASKING FOR: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✗ Immediate commitment to full $2.6M (phased approvals based on results)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✗ Layoffs (natural attrition over 18-36 months)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✗ Blind faith in AI (pilot → prove → scale at every phase)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Recommendation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7680960" cy="2286000"/>
          </a:xfrm>
          <a:prstGeom prst="roundRect">
            <a:avLst/>
          </a:prstGeom>
          <a:solidFill>
            <a:srgbClr val="E8F5E9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/>
            <a:r>
              <a:rPr sz="1800" b="1">
                <a:solidFill>
                  <a:srgbClr val="2E7D32"/>
                </a:solidFill>
                <a:latin typeface="Calibri"/>
              </a:rPr>
              <a:t>RECOMMENDATION</a:t>
            </a:r>
          </a:p>
          <a:p>
            <a:pPr algn="ctr"/>
          </a:p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Approve Phase 1 implementation immediately. Begin 30-day action plan next week.</a:t>
            </a:r>
          </a:p>
          <a:p>
            <a:pPr algn="ctr"/>
          </a:p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RATIONALE: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• The transformation is inevitable—94% of PMs already use AI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• First-movers gain 2-3 year competitive advantage that compounds over time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• Risks of action are manageable through phased approach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• Risks of inaction are existential (market share loss, talent exodus, cost inefficiency)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• ROI is compelling: $100K investment → $150-300K year 1 value + strategic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768096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IMMEDIATE NEXT STEPS (This Week):</a:t>
            </a:r>
          </a:p>
          <a:p>
            <a:pPr algn="l"/>
          </a:p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1. Executive steering committee meeting: Review and approve recommendation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2. Assign transformation lead and form implementation team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3. Brief PM team: Town hall on vision, rationale, timeline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4. Initiate 30-day action plan: Assessments, tool procurement, training schedule</a:t>
            </a:r>
          </a:p>
          <a:p>
            <a:pPr algn="l"/>
          </a:p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DECISION POINT: End of this week - Go/no-go on Phase 1</a:t>
            </a:r>
          </a:p>
          <a:p>
            <a:pPr algn="l"/>
          </a:p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FOLLOW-UP: Monthly steering committee reviews, quarterly executive check-ins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Appendix: Supporting Materials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5486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Calibri"/>
              </a:rPr>
              <a:t>Additional materials available upon request:</a:t>
            </a:r>
          </a:p>
          <a:p>
            <a:pPr algn="ctr"/>
          </a:p>
          <a:p>
            <a:pPr algn="ctr"/>
            <a:r>
              <a:rPr sz="1600" b="0">
                <a:solidFill>
                  <a:srgbClr val="000000"/>
                </a:solidFill>
                <a:latin typeface="Calibri"/>
              </a:rPr>
              <a:t>• Detailed workstream transformation analysis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Calibri"/>
              </a:rPr>
              <a:t>• Technical architecture specifications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Calibri"/>
              </a:rPr>
              <a:t>• Vendor evaluation matrices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Calibri"/>
              </a:rPr>
              <a:t>• PM training curriculum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Calibri"/>
              </a:rPr>
              <a:t>• Change management playbook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Calibri"/>
              </a:rPr>
              <a:t>• Detailed financial models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Calibri"/>
              </a:rPr>
              <a:t>• Industry case studies and benchmarks</a:t>
            </a:r>
          </a:p>
          <a:p>
            <a:pPr algn="ctr"/>
          </a:p>
          <a:p>
            <a:pPr algn="ctr"/>
            <a:r>
              <a:rPr sz="1600" b="0">
                <a:solidFill>
                  <a:srgbClr val="000000"/>
                </a:solidFill>
                <a:latin typeface="Calibri"/>
              </a:rPr>
              <a:t>Contact: [Your Team]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