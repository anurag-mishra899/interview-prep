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  <a:latin typeface="Calibri"/>
              </a:rPr>
              <a:t>Product Manager Transition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595959"/>
                </a:solidFill>
                <a:latin typeface="Calibri"/>
              </a:rPr>
              <a:t>AI-Driven Transformation: Implementation Guide for Technical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787878"/>
                </a:solidFill>
                <a:latin typeface="Calibri"/>
              </a:rPr>
              <a:t>May 2026 | Industry Research &amp; Benchmarks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94% of product professionals now use AI frequently, with 65% having deeply integrated it into workflows, delivering 1-2 hours/day productivity gains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PM role is evolving through three distinct AI maturity stages: Augmented (current), Accelerated (2026-2028), and Semi-Autonomous (2028+)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Key impacts span six critical workstreams: Discovery &amp; Research, Strategy &amp; Planning, Execution &amp; Documentation, Data &amp; Analytics, Stakeholder Management, and Ideation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Organizations can expect 30-50% faster workflows, 20-40% cost reductions, and 25-30% less roadmap rework with proper AI implementation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PM leverage will increase from 1:1 (products per PM) to 1:2-3 in Accelerated stage and 1:5-10 in Semi-Autonomous, requiring 30-70% fewer PMs but at higher strategic levels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Critical success factors: Multi-agent system architecture, governance frameworks, and systematic PM upskilling to transition from execution to orchestration to strategy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Key Findings: Market Landscape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MARKET ADOPTION &amp; IMPACT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986% increase in agentic AI job postings between 2023-2024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40% of enterprise applications will include AI agents by end of 2026 (Gartner)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Research synthesis time compressed from days to hours (10-20x improvement)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PRODUCTIVITY &amp; EFFICIENCY GAINS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260 hours saved annually per PM from ChatGPT alone (5 hrs/week)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30-50% faster workflow execution with AI automation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20-40% cost reduction in product development processes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25-30% reduction in roadmap rework with AI-assisted planning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ORGANIZATIONAL TRANSFORMATION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PM-to-product ratio shifting from 1:1 → 1:2-3 (Accelerated) → 1:5-10 (Semi-Autonomous)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30-40% PM headcount reduction in Accelerated stage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50-70% reduction in Semi-Autonomous (elevated to executive roles)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• New roles emerging: AI Workflow Architect, Agent Orchestrator, AI Governance Lead</a:t>
            </a:r>
          </a:p>
          <a:p>
            <a:pPr algn="l"/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CRITICAL INSIGHT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"It's not that PMs are in danger of losing jobs to AI, but rather to other PMs who use AI better"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Calibri"/>
              </a:rPr>
              <a:t>- Product School 2026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The AI Maturity Framework: Three Distinct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468880" cy="4389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AUGMENTED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(2024-2026)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Current State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94% Adoption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AI assists tasks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Human in control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1-2 hrs/day saved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70% execution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30% strategy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Tools: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ChatGPT, Claude,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Notion AI, Dovetail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Impact: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Stable team size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Productivity boost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468880" cy="43891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ACCELERATED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(2026-2028)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Near Future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Early Adopters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Multi-agent collab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Human orchestration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10-15 hrs/wk saved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50% execution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50% strategy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Tools: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LangChain, CrewAI,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Multi-agent platforms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Impact: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30-40% fewer PMs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2-3x leverage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468880" cy="43891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 lIns="137160" rIns="137160"/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SEMI-AUTONOMOUS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(2028+)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Future State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Speculative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AI-led execution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Human oversight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40+ hrs/wk saved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20% execution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• 80% strategy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Tools: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Autonomous systems,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Governance platforms</a:t>
            </a:r>
          </a:p>
          <a:p>
            <a:pPr algn="l"/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Impact: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50-70% fewer PMs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Calibri"/>
              </a:rPr>
              <a:t>5-10x leverage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Six Critical PM Workstreams Under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DISCOVERY &amp; RESEARCH: User interviews, market analysis, insight synthesis, competitive intelligence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STRATEGY &amp; PLANNING: Roadmapping, prioritization (RICE/KANO), OKR setting, business case development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EXECUTION &amp; DOCUMENTATION: PRD writing, user stories, technical specs, requirements gathering, release notes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DATA &amp; ANALYTICS: Metrics tracking, A/B testing, funnel analysis, SQL queries, performance monitoring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5. STAKEHOLDER MANAGEMENT: Communication, presentations, alignment, decision documentation, updates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6. IDEATION &amp; PROBLEM SOLVING: Brainstorming, solution design, feature concepting, trade-off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i="1"/>
            </a:pPr>
            <a:r>
              <a:rPr sz="1100" b="0">
                <a:solidFill>
                  <a:srgbClr val="787878"/>
                </a:solidFill>
                <a:latin typeface="Calibri"/>
              </a:rPr>
              <a:t>Each workstream experiences distinct transformation patterns across AI maturity stages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Workstream 1: Discovery &amp; Research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955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103120"/>
                <a:gridCol w="21031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AUGMENTED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ACCELERATED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SEMI-AUTONOMOUS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PM Activities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Conduct interviews manually</a:t>
                      </a:r>
                    </a:p>
                    <a:p>
                      <a:r>
                        <a:rPr sz="800"/>
                        <a:t>• Upload to AI for summary</a:t>
                      </a:r>
                    </a:p>
                    <a:p>
                      <a:r>
                        <a:rPr sz="800"/>
                        <a:t>• Review AI themes</a:t>
                      </a:r>
                    </a:p>
                    <a:p>
                      <a:r>
                        <a:rPr sz="800"/>
                        <a:t>• Validate insights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Define research objectives</a:t>
                      </a:r>
                    </a:p>
                    <a:p>
                      <a:r>
                        <a:rPr sz="800"/>
                        <a:t>• Review AI summaries</a:t>
                      </a:r>
                    </a:p>
                    <a:p>
                      <a:r>
                        <a:rPr sz="800"/>
                        <a:t>• Approve research plans</a:t>
                      </a:r>
                    </a:p>
                    <a:p>
                      <a:r>
                        <a:rPr sz="800"/>
                        <a:t>• Strategic conversations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Set long-term themes</a:t>
                      </a:r>
                    </a:p>
                    <a:p>
                      <a:r>
                        <a:rPr sz="800"/>
                        <a:t>• Review weekly summaries</a:t>
                      </a:r>
                    </a:p>
                    <a:p>
                      <a:r>
                        <a:rPr sz="800"/>
                        <a:t>• Handle exceptions</a:t>
                      </a:r>
                    </a:p>
                    <a:p>
                      <a:r>
                        <a:rPr sz="800"/>
                        <a:t>• Audit quality quarterly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AI Activities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Transcribe interviews</a:t>
                      </a:r>
                    </a:p>
                    <a:p>
                      <a:r>
                        <a:rPr sz="800"/>
                        <a:t>• Summarize transcripts</a:t>
                      </a:r>
                    </a:p>
                    <a:p>
                      <a:r>
                        <a:rPr sz="800"/>
                        <a:t>• Extract themes</a:t>
                      </a:r>
                    </a:p>
                    <a:p>
                      <a:r>
                        <a:rPr sz="800"/>
                        <a:t>• Draft reports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Schedule interviews</a:t>
                      </a:r>
                    </a:p>
                    <a:p>
                      <a:r>
                        <a:rPr sz="800"/>
                        <a:t>• Auto-code themes</a:t>
                      </a:r>
                    </a:p>
                    <a:p>
                      <a:r>
                        <a:rPr sz="800"/>
                        <a:t>• Generate insights</a:t>
                      </a:r>
                    </a:p>
                    <a:p>
                      <a:r>
                        <a:rPr sz="800"/>
                        <a:t>• Monitor competitors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Continuous monitoring</a:t>
                      </a:r>
                    </a:p>
                    <a:p>
                      <a:r>
                        <a:rPr sz="800"/>
                        <a:t>• Proactive pain point ID</a:t>
                      </a:r>
                    </a:p>
                    <a:p>
                      <a:r>
                        <a:rPr sz="800"/>
                        <a:t>• Auto-generate features</a:t>
                      </a:r>
                    </a:p>
                    <a:p>
                      <a:r>
                        <a:rPr sz="800"/>
                        <a:t>• Real-time insights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Time Impact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1-2 hrs/day</a:t>
                      </a:r>
                    </a:p>
                    <a:p>
                      <a:r>
                        <a:rPr sz="800"/>
                        <a:t>(from 3-4 hrs)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10-15 hrs/week</a:t>
                      </a:r>
                    </a:p>
                    <a:p>
                      <a:r>
                        <a:rPr sz="800"/>
                        <a:t>(from 20-25 hrs)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40+ hrs/week</a:t>
                      </a:r>
                    </a:p>
                    <a:p>
                      <a:r>
                        <a:rPr sz="800"/>
                        <a:t>(autonomous)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Quality Gain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+20-30%</a:t>
                      </a:r>
                    </a:p>
                    <a:p>
                      <a:r>
                        <a:rPr sz="800"/>
                        <a:t>more coverage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+200-400%</a:t>
                      </a:r>
                    </a:p>
                    <a:p>
                      <a:r>
                        <a:rPr sz="800"/>
                        <a:t>more sources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Continuous</a:t>
                      </a:r>
                    </a:p>
                    <a:p>
                      <a:r>
                        <a:rPr sz="800"/>
                        <a:t>real-time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Products/PM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1 product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2-3 products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5-10 products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Discovery &amp; Research: Industry Benchmarks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TIME COMPRESSION: Research synthesis compressed from days to hours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Manual process: 16-20 hours to synthesize 10 interviews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Augmented: 8-10 hours (50% reduction)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Accelerated: 2-3 hours (85% reduction)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Semi-Autonomous: 30 minutes (automated)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TOOLS DRIVING TRANSFORMATION: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Transcription: Otter.ai, Grain, Fireflies (real-time automated)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Synthesis: Dovetail AI (theme extraction), NotebookLM (insight generation)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Analysis: Maze (automated feedback clustering), UserTesting (AI-powered insights)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PRODUCTIVITY IMPACT: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Augmented: Process 1.5x more sources with same PM time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Accelerated: Process 4-5x more sources (multi-agent workflows)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Semi-Autonomous: Continuous real-time monitoring across all channels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ORGANIZATIONAL IMPLICATION: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Research team size can be reduced 30-40% in Accelerated stage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PMs can manage 2-3 products' research simultaneously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Dedicated researchers pivot to strategic research or AI oversight roles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Workstream 2: Strategy &amp; Planning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955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103120"/>
                <a:gridCol w="21031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AUGMENTED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ACCELERATED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SEMI-AUTONOMOUS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PM Activities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Define vision manually</a:t>
                      </a:r>
                    </a:p>
                    <a:p>
                      <a:r>
                        <a:rPr sz="800"/>
                        <a:t>• Use AI for RICE calc</a:t>
                      </a:r>
                    </a:p>
                    <a:p>
                      <a:r>
                        <a:rPr sz="800"/>
                        <a:t>• Make all decisions</a:t>
                      </a:r>
                    </a:p>
                    <a:p>
                      <a:r>
                        <a:rPr sz="800"/>
                        <a:t>• Edit AI roadmaps heavily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Set quarterly vision</a:t>
                      </a:r>
                    </a:p>
                    <a:p>
                      <a:r>
                        <a:rPr sz="800"/>
                        <a:t>• Define objectives for AI</a:t>
                      </a:r>
                    </a:p>
                    <a:p>
                      <a:r>
                        <a:rPr sz="800"/>
                        <a:t>• Select from AI options</a:t>
                      </a:r>
                    </a:p>
                    <a:p>
                      <a:r>
                        <a:rPr sz="800"/>
                        <a:t>• Make high-stakes trades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3-5 year vision</a:t>
                      </a:r>
                    </a:p>
                    <a:p>
                      <a:r>
                        <a:rPr sz="800"/>
                        <a:t>• Set constraints/guardrails</a:t>
                      </a:r>
                    </a:p>
                    <a:p>
                      <a:r>
                        <a:rPr sz="800"/>
                        <a:t>• Review quarterly</a:t>
                      </a:r>
                    </a:p>
                    <a:p>
                      <a:r>
                        <a:rPr sz="800"/>
                        <a:t>• Handle pivots/exceptions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AI Activities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Calculate scores</a:t>
                      </a:r>
                    </a:p>
                    <a:p>
                      <a:r>
                        <a:rPr sz="800"/>
                        <a:t>• Draft roadmaps</a:t>
                      </a:r>
                    </a:p>
                    <a:p>
                      <a:r>
                        <a:rPr sz="800"/>
                        <a:t>• Generate scenarios</a:t>
                      </a:r>
                    </a:p>
                    <a:p>
                      <a:r>
                        <a:rPr sz="800"/>
                        <a:t>• Create templates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Analyze market trends</a:t>
                      </a:r>
                    </a:p>
                    <a:p>
                      <a:r>
                        <a:rPr sz="800"/>
                        <a:t>• Score with frameworks</a:t>
                      </a:r>
                    </a:p>
                    <a:p>
                      <a:r>
                        <a:rPr sz="800"/>
                        <a:t>• Create roadmap options</a:t>
                      </a:r>
                    </a:p>
                    <a:p>
                      <a:r>
                        <a:rPr sz="800"/>
                        <a:t>• Build financial models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Monitor continuously</a:t>
                      </a:r>
                    </a:p>
                    <a:p>
                      <a:r>
                        <a:rPr sz="800"/>
                        <a:t>• Adjust priorities auto</a:t>
                      </a:r>
                    </a:p>
                    <a:p>
                      <a:r>
                        <a:rPr sz="800"/>
                        <a:t>• Optimize sequencing</a:t>
                      </a:r>
                    </a:p>
                    <a:p>
                      <a:r>
                        <a:rPr sz="800"/>
                        <a:t>• Alert on thresholds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Time Impact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3-5 hrs/week</a:t>
                      </a:r>
                    </a:p>
                    <a:p>
                      <a:r>
                        <a:rPr sz="800"/>
                        <a:t>saved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15-20 hrs/week</a:t>
                      </a:r>
                    </a:p>
                    <a:p>
                      <a:r>
                        <a:rPr sz="800"/>
                        <a:t>saved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30-40 hrs/week</a:t>
                      </a:r>
                    </a:p>
                    <a:p>
                      <a:r>
                        <a:rPr sz="800"/>
                        <a:t>saved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Key Metric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20% faster</a:t>
                      </a:r>
                    </a:p>
                    <a:p>
                      <a:r>
                        <a:rPr sz="800"/>
                        <a:t>time-to-market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25-30% less</a:t>
                      </a:r>
                    </a:p>
                    <a:p>
                      <a:r>
                        <a:rPr sz="800"/>
                        <a:t>roadmap rework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60-70% faster</a:t>
                      </a:r>
                    </a:p>
                    <a:p>
                      <a:r>
                        <a:rPr sz="800"/>
                        <a:t>with auto-planning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Products/PM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1 product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2-3 roadmaps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5-10 portfolio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Strategy &amp; Planning: Key Challenges for AI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TRADITIONAL FRAMEWORKS BREAK WITH AI FEATURES: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RICE/MoSCoW don't account for: operational cost, data readiness, model risk, regulatory exposure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features have open-ended scope (e.g., 'add AI to editor' is ill-defined)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Need enhanced frameworks with 5 strategic pillars: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VALUE CLARITY: Does it move a measurable business metric?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DATA &amp; MEASUREMENT READINESS: Do we have the data to train/validate?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TECHNICAL FIT &amp; MODULARITY: Can we build/deploy/maintain it?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TRUST &amp; SAFETY: What are the risks of hallucination, bias, misuse?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5. ECONOMIC MODEL: What are the LLM costs at scale?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RECOMMENDATION FOR CTOs: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Develop AI-specific prioritization frameworks beyond RICE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Include infrastructure/cost modeling in roadmap planning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Establish human-in-loop gates for AI feature rollouts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Budget for continuous experimentation and safety monitoring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Workstream 3: Execution &amp;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CURRENT STATE (AUGMENTED):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drafts PRDs, user stories, specs - PM heavily edits (30-40% faster)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ChatGPT alone saves 260 hours/year per PM (5 hrs/week on documentation)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Tools: ChatGPT, Claude, Notion AI, Confluence AI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ACCELERATED STAGE (2026-2028):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Multi-agent systems generate complete specs from objectives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Example workflow: PM defines feature goal → Research agent gathers requirements → Spec agent writes PRD → Review agent checks completeness → PM approves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60-75% faster documentation with minimal PM editing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Save 15 hrs/week per PM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SEMI-AUTONOMOUS (2028+):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Autonomous spec generation and continuous maintenance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updates specs automatically as requirements evolve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 only reviews on major changes or exceptions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Save 30+ hrs/week per PM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TECHNICAL IMPLEMENTATION CONSIDERATIONS: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Need integrated platforms that connect Jira/Linear, Slack, Notion/Confluence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Establish templates and quality standards for AI-generated specs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Create approval workflows with human gates at critical points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Version control and audit trails for AI-modified documentation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Workstream 4: Data &amp; Analytics Transformation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79552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03120"/>
                <a:gridCol w="2103120"/>
                <a:gridCol w="2103120"/>
              </a:tblGrid>
              <a:tr h="762000"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AUGMENTED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ACCELERATED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SEMI-AUTONOMOUS</a:t>
                      </a:r>
                    </a:p>
                  </a:txBody>
                  <a:tcPr anchor="t">
                    <a:solidFill>
                      <a:srgbClr val="1F4E79"/>
                    </a:solidFill>
                  </a:tcPr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PM Activities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Define metrics manually</a:t>
                      </a:r>
                    </a:p>
                    <a:p>
                      <a:r>
                        <a:rPr sz="800"/>
                        <a:t>• Ask AI to write SQL</a:t>
                      </a:r>
                    </a:p>
                    <a:p>
                      <a:r>
                        <a:rPr sz="800"/>
                        <a:t>• Interpret results</a:t>
                      </a:r>
                    </a:p>
                    <a:p>
                      <a:r>
                        <a:rPr sz="800"/>
                        <a:t>• Create dashboards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Set success metrics</a:t>
                      </a:r>
                    </a:p>
                    <a:p>
                      <a:r>
                        <a:rPr sz="800"/>
                        <a:t>• Review AI analysis</a:t>
                      </a:r>
                    </a:p>
                    <a:p>
                      <a:r>
                        <a:rPr sz="800"/>
                        <a:t>• Approve experiments</a:t>
                      </a:r>
                    </a:p>
                    <a:p>
                      <a:r>
                        <a:rPr sz="800"/>
                        <a:t>• Make decisions on data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Define strategic KPIs</a:t>
                      </a:r>
                    </a:p>
                    <a:p>
                      <a:r>
                        <a:rPr sz="800"/>
                        <a:t>• Review anomaly alerts</a:t>
                      </a:r>
                    </a:p>
                    <a:p>
                      <a:r>
                        <a:rPr sz="800"/>
                        <a:t>• Audit AI decisions</a:t>
                      </a:r>
                    </a:p>
                    <a:p>
                      <a:r>
                        <a:rPr sz="800"/>
                        <a:t>• Handle edge cases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AI Activities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Write SQL queries</a:t>
                      </a:r>
                    </a:p>
                    <a:p>
                      <a:r>
                        <a:rPr sz="800"/>
                        <a:t>• Explain metrics</a:t>
                      </a:r>
                    </a:p>
                    <a:p>
                      <a:r>
                        <a:rPr sz="800"/>
                        <a:t>• Generate charts</a:t>
                      </a:r>
                    </a:p>
                    <a:p>
                      <a:r>
                        <a:rPr sz="800"/>
                        <a:t>• Calculate stats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Monitor metrics 24/7</a:t>
                      </a:r>
                    </a:p>
                    <a:p>
                      <a:r>
                        <a:rPr sz="800"/>
                        <a:t>• Run A/B tests auto</a:t>
                      </a:r>
                    </a:p>
                    <a:p>
                      <a:r>
                        <a:rPr sz="800"/>
                        <a:t>• Detect anomalies</a:t>
                      </a:r>
                    </a:p>
                    <a:p>
                      <a:r>
                        <a:rPr sz="800"/>
                        <a:t>• Generate insights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• Self-optimizing tests</a:t>
                      </a:r>
                    </a:p>
                    <a:p>
                      <a:r>
                        <a:rPr sz="800"/>
                        <a:t>• Autonomous analysis</a:t>
                      </a:r>
                    </a:p>
                    <a:p>
                      <a:r>
                        <a:rPr sz="800"/>
                        <a:t>• Predictive alerts</a:t>
                      </a:r>
                    </a:p>
                    <a:p>
                      <a:r>
                        <a:rPr sz="800"/>
                        <a:t>• Auto-recommendations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Time Impact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3 hrs/week saved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10 hrs/week saved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20+ hrs/week saved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Key Tools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ChatGPT (SQL)</a:t>
                      </a:r>
                    </a:p>
                    <a:p>
                      <a:r>
                        <a:rPr sz="800"/>
                        <a:t>PostHog, Amplitude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Statsig, Datadog</a:t>
                      </a:r>
                    </a:p>
                    <a:p>
                      <a:r>
                        <a:rPr sz="800"/>
                        <a:t>Experiments (2026)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Autonomous analytics</a:t>
                      </a:r>
                    </a:p>
                    <a:p>
                      <a:r>
                        <a:rPr sz="800"/>
                        <a:t>platforms</a:t>
                      </a:r>
                    </a:p>
                  </a:txBody>
                  <a:tcPr anchor="t"/>
                </a:tc>
              </a:tr>
              <a:tr h="762000">
                <a:tc>
                  <a:txBody>
                    <a:bodyPr wrap="square"/>
                    <a:lstStyle/>
                    <a:p>
                      <a:r>
                        <a:rPr b="1" sz="900"/>
                        <a:t>Innovation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Runner AI:</a:t>
                      </a:r>
                    </a:p>
                    <a:p>
                      <a:r>
                        <a:rPr sz="800"/>
                        <a:t>Adaptive experiments</a:t>
                      </a:r>
                    </a:p>
                    <a:p>
                      <a:r>
                        <a:rPr sz="800"/>
                        <a:t>auto-optimizing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Datadog Experiments:</a:t>
                      </a:r>
                    </a:p>
                    <a:p>
                      <a:r>
                        <a:rPr sz="800"/>
                        <a:t>Unified testing +</a:t>
                      </a:r>
                    </a:p>
                    <a:p>
                      <a:r>
                        <a:rPr sz="800"/>
                        <a:t>observability</a:t>
                      </a:r>
                    </a:p>
                  </a:txBody>
                  <a:tcPr anchor="t"/>
                </a:tc>
                <a:tc>
                  <a:txBody>
                    <a:bodyPr wrap="square"/>
                    <a:lstStyle/>
                    <a:p>
                      <a:r>
                        <a:rPr sz="800"/>
                        <a:t>Continuous testing</a:t>
                      </a:r>
                    </a:p>
                    <a:p>
                      <a:r>
                        <a:rPr sz="800"/>
                        <a:t>with real-time</a:t>
                      </a:r>
                    </a:p>
                    <a:p>
                      <a:r>
                        <a:rPr sz="800"/>
                        <a:t>learning</a:t>
                      </a:r>
                    </a:p>
                  </a:txBody>
                  <a:tcPr anchor="t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Workstreams 5 &amp; 6: Communication &amp; Ideation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WORKSTREAM 5: STAKEHOLDER MANAGEMENT &amp; COMMUNICATION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Augmented: AI drafts emails, updates, presentations; PM reviews (save 4 hrs/week)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Tools: Otter.ai/Grain (meeting transcription saves 2-3 hrs/week alone)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Use case: Auto-generate meeting notes, action items, stakeholder updates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Accelerated: Auto-generated stakeholder communications, meeting prep (save 12 hrs/week)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Multi-agent workflow: Meeting agent transcribes → Summary agent extracts decisions → Communication agent drafts updates → PM approves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Semi-Autonomous: Autonomous updates, PM handles exceptions (save 25+ hrs/week)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━━━━━━━━━━━━━━━━━━━━━━━━━━━━━━━━━━━━━━━━━━━━━━━━━━━━━━━━━━━━━━━━━━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WORKSTREAM 6: IDEATION &amp; PROBLEM SOLVING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Augmented: AI brainstorms features, generates ideas from pain points (save 2 hrs/week)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Impact: 25-35% more ideas generated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Accelerated: Multi-agent ideation systems explore solution spaces (save 8 hrs/week)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Impact: 50-75% more shipped experiments (faster iteration)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Semi-Autonomous: Continuous opportunity identification (save 15+ hrs/week)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proactively identifies market gaps and generates solution concepts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Technical Architecture: Multi-Agent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ACCELERATED STAGE ARCHITECTURE REQUIREMENTS: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MULTI-AGENT ORCHESTRATION LAYER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Frameworks: LangChain, CrewAI, AutoGen, Relevance AI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Capabilities: Agent coordination, workflow design, handoff management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Integration: APIs to connect agents with PM tools (Jira, Slack, Notion, Amplitude)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AGENT TYPES NEEDED FOR PM WORKFLOWS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Research Agent: Schedule, conduct, transcribe, synthesize user research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Strategy Agent: Market analysis, competitive intelligence, trend identification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Planning Agent: Feature prioritization, roadmap generation, resource allocation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Specification Agent: PRD writing, user story creation, technical spec generation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Analytics Agent: SQL query generation, A/B test analysis, metric monitoring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Communication Agent: Stakeholder updates, meeting summaries, presentation drafting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DATA INFRASTRUCTURE REQUIREMENTS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Unified product data lake: customer feedback, usage data, roadmap, backlog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Real-time data pipelines for continuous agent access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Vector databases for semantic search across product documentation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GOVERNANCE &amp; OVERSIGHT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Human-in-loop approval gates at critical decision points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Audit trails: track all AI-generated outputs and decisions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Quality scoring: confidence thresholds trigger human review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Bias detection and safety monitoring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Implementation Roadmap: Phase 1 - Foundation (Months 1-6)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OBJECTIVE: Establish Augmented stage capabilities across PM team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TECHNICAL INFRASTRUCTURE: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Procure AI tool licenses: ChatGPT Team, Claude Team, Notion AI, Dovetail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Set up meeting transcription: Deploy Otter.ai or Grain for all PM meetings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Integrate AI into existing tools: Enable Confluence AI, GitHub Copilot, Amplitude AI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Create data access layer: Ensure PMs can query product databases via AI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ORGANIZATIONAL READINESS: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Conduct AI literacy training: 2-day workshop for all PMs on prompt engineering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Build prompt library: Document effective prompts for common PM tasks (PRDs, research synthesis, SQL queries)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Establish quality standards: Define acceptable quality for AI-assisted outputs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Measure baseline: Track current PM time allocation and productivity metrics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SUCCESS METRICS (Target by Month 6):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80%+ of PMs using AI tools daily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5-10 hours/week time savings per PM (measured via time tracking)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20% improvement in documentation speed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Zero additional headcount needed (productivity absorbed into faster delivery)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EXPECTED INVESTMENT: $50-100K (tools + training) for 10-person PM team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Implementation Roadmap: Phase 2 - Orchestration (Months 7-18)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OBJECTIVE: Deploy multi-agent workflows for key PM workstreams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TECHNICAL INFRASTRUCTURE: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Select multi-agent platform: Evaluate LangChain, CrewAI, or build custom with OpenAI/Anthropic APIs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Build 3 pilot workflows: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1. User research → insights → opportunity identification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2. Feature request → RICE scoring → roadmap placement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3. Feature goal → spec generation → stakeholder communication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Integrate with PM toolchain: Connect agents to Jira, Linear, Notion, Slack, Amplitude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Establish governance layer: Human approval gates, audit logging, quality scoring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ORGANIZATIONAL CHANGES: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Hire 1-2 AI Workflow Architects: Design and maintain agent systems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Upskill PMs: Training on workflow design, objective function specification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Pilot with 2-3 senior PMs: Test workflows before broad rollout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Plan headcount reduction: Natural attrition to reduce team by 30-40% over 12-18 months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SUCCESS METRICS (Target by Month 18):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Each PM managing 2-3 products (up from 1:1)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15-20 hours/week time savings per PM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30% reduction in roadmap rework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30-40% smaller PM team (through attrition, not layoffs)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EXPECTED INVESTMENT: $300-500K (platform + architects + training) for 10-person PM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Implementation Roadmap: Phase 3 - Autonomy (Months 19+)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OBJECTIVE: Transition to semi-autonomous AI-driven product execution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TECHNICAL INFRASTRUCTURE: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Deploy autonomous agent platforms: Self-improving systems with continuous learning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Build comprehensive data infrastructure: Real-time product data lake spanning all sources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Establish AI governance framework: Ethics board, bias detection, regulatory compliance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Create exception handling system: Automated escalation when AI confidence is low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ORGANIZATIONAL TRANSFORMATION: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Elevate PM roles to VP/executive level: Strategic leadership, not execution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Reduce PM headcount 50-70%: Only strategic leaders remain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Create new roles: AI Governance Lead, Product AI Officer (C-suite)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Upskill remaining PMs: Executive presence, governance, strategic vision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SUCCESS METRICS (Target by Month 30+):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Each PM overseeing 5-10 product portfolios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40+ hours/week of autonomous execution per product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50-70% smaller PM organization (high-leverage strategic roles)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60-70% faster time-to-market through autonomous workflows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EXPECTED INVESTMENT: $1-2M (autonomous platforms + governance + transformation management)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NOTE: Phase 3 is speculative and depends on AI capabilities maturing significantly beyond 2026 levels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Return on Investment: Business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BASELINE ASSUMPTIONS (10-person PM team, $150K avg comp):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Current annual PM cost: $1.5M (salary) + $500K (overhead) = $2M total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Current capacity: 10 products (1:1 ratio)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AUGMENTED STAGE (Months 1-6):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Investment: $100K (tools + training)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Productivity gain: 5-10 hrs/week per PM (1,200-2,400 hrs/year total)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Value creation: Faster delivery, better quality (hard to quantify)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ROI: 200-400% (time savings = $150K-300K value)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ACCELERATED STAGE (Months 7-18):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Investment: $500K (platform + architects)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Productivity gain: 15-20 hrs/week per PM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Capacity increase: 20-30 products (2-3x with 30% smaller team)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Cost savings: $800K annually (4 fewer PMs through attrition)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ROI: 250% in year 1, ongoing $800K/year savings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SEMI-AUTONOMOUS STAGE (Months 19-36):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Investment: $2M (autonomous systems + transformation)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Capacity increase: 50-100 products (5-10x with 50-70% smaller team)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Cost savings: $1.2-1.5M annually (6-7 fewer PMs)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Strategic value: Faster innovation, market responsiveness (unquantified)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ROI: 100% in year 1, ongoing $1.2M+/year savings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TOTAL 3-YEAR IMPACT: $2.6M investment → $3-4M savings + 5-10x capacity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Key Risks &amp; Mitigation Strategies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RISK 1: Poor AI Output Quality (High Probability, High Impact)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Manifestation: AI generates hallucinations, biased insights, or incorrect specs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Mitigation: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Establish human review gates at critical decision points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Implement quality scoring and confidence thresholds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Build PM skills in rapid AI output evaluation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Start with low-risk workflows (documentation) before high-risk (strategy)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RISK 2: PM Skill Erosion (Medium Probability, High Impact)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Manifestation: PMs become dependent on AI, lose ability to do core PM work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Mitigation: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Maintain 'manual mode' capabilities as backup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Rotate PMs through hands-on execution periodically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Hire for strategic thinking, not just AI orchestration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RISK 3: Over-Optimization for Wrong Metrics (Medium Probability, Critical Impact)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Manifestation: AI optimizes local metrics but misses strategic goals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Mitigation: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PMs set clear objective functions with guardrails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Regular strategic alignment reviews (quarterly)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Override mechanisms when AI diverges from strategy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RISK 4: Organizational Resistance (High Probability, Medium Impact)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Manifestation: PMs fear job loss, resist AI adoption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Mitigation: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Frame as augmentation, not replacement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Use attrition not layoffs for headcount reduction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Elevate remaining PMs to higher-impact strategic roles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  → Transparent communication about transition timeline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Critical Success Factors for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EXECUTIVE SPONSORSHIP &amp; CHANGE MANAGEMENT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CTO/CPO must champion the transformation and model AI adoption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Transparent communication about job impact and career evolution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Invest in PM upskilling, not just AI tooling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DATA INFRASTRUCTURE FOUNDATION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AI is only as good as the data it accesses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Must have unified product data (users, feedback, metrics, roadmap)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Real-time data pipelines, not batch exports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START WITH HIGH-VALUE, LOW-RISK WORKFLOWS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Begin with documentation and research synthesis (clear ROI, low risk)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Avoid starting with strategic planning or critical decision workflows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Build trust and competence before tackling complex orchestration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GOVERNANCE BEFORE AUTONOMY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Establish human oversight, audit trails, and quality standards early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Create exception handling processes before deploying autonomous systems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Ethics and bias detection frameworks are non-negotiable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5. PILOT → PROVE → SCALE APPROACH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Test workflows with 2-3 senior PMs before broad rollout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Measure impact rigorously (time saved, quality, business outcomes)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Only scale what's proven to work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6. BALANCE SPEED WITH THOUGHTFULNESS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Move quickly on Augmented stage (competitive necessity)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Take time on Accelerated stage (organizational readiness matters)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Don't rush to Semi-Autonomous (technology may not be ready)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People Impact &amp; Change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CURRENT PM TEAM COMPOSITION: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Junior PMs (0-2 years): High risk - primarily execution-focused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Mid-level PMs (3-5 years): Medium risk - need to elevate to strategic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Senior PMs (6+ years): Low risk - already strategic, can orchestrate AI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Staff/Principal: Critical - become AI workflow architects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TRANSITION STRATEGY BY LEVEL: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Junior PMs: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Upskill on AI tools immediately (survival requirement)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Pivot to strategic skills (frameworks, business thinking)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Many will not transition successfully - plan for attrition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Mid-Level PMs: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Primary target for AI orchestration training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Shift from execution to workflow design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High-potential candidates for senior strategic roles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Senior+ PMs: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Become AI workflow architects and strategic leaders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Manage 2-3 products immediately (Accelerated readiness)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Potential for VP/exec trajectory in Semi-Autonomous stage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NEW ROLES TO CREATE: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Workflow Architect (staff+ level): Design multi-agent PM systems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AI Governance Lead: Ethics, bias detection, compliance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Agentic Product Manager: Specialize in AI agent products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ATTRITION PLAN: Reduce headcount 30-40% over 18 months via natural attrition, not layoffs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Industry Examples &amp; Early Adopters (2026)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RESEARCH SYNTHESIS - BREAKTHROUGH ACHIEVEMENT: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Industry standard: 50 user interview transcripts synthesized in &lt;1 hour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Tools: Dovetail AI, NotebookLM, Maze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Previous baseline: 2-3 days of manual coding and analysis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EXPERIMENTATION &amp; ANALYTICS - DATADOG EXPERIMENTS (April 2026):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First platform to unify A/B testing with observability data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Real-time guardrails: automatically halt experiments that degrade performance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Powered by Eppo acquisition, enabling warehouse-native experimentation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ADAPTIVE EXPERIMENTATION - RUNNER AI (January 2026):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World's first AI-native e-commerce engine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Continuously runs A/B tests, learns from outcomes, optimizes conversions autonomously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Represents early Semi-Autonomous experimentation capability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MULTI-AGENT FRAMEWORKS - PRODUCTION READY: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Statsig: 500M free events/month, Bayesian statistical engine (ex-Facebook engineer)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PostHog: Unified analytics + session replay + A/B testing + AI insights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Optimizely: Full-stack experimentation, named Forrester Wave DXP Leader Q4 2025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GrowthBook: Leading open-source, warehouse-native platform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KEY INSIGHT: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Augmented capabilities are production-ready and widely adopted (94% PM usage)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Accelerated capabilities are emerging (early adopters deploying in 2026)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Semi-Autonomous is still speculative but Runner AI shows potential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AI PM Tools &amp; Vendor Landscape (2026)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TIER 1: CONVERSATIONAL AI (Foundation)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ChatGPT Team ($25-30/user/mo): General PM assistance, research, writing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Claude Team ($20-30/user/mo): Long-form content, technical analysis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Gemini / Perplexity: Research with citations, web-connected insights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TIER 2: WORKFLOW-SPECIFIC AI TOOLS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Research: Dovetail AI, Maze, UserTesting, NotebookLM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Documentation: Notion AI, Confluence AI, ChatPRD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Meetings: Otter.ai, Grain, Fireflies (transcription + synthesis)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Analytics: Amplitude AI, Mixpanel AI, PostHog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Roadmapping: Productboard AI, Aha! Intelligence, Linear AI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TIER 3: MULTI-AGENT PLATFORMS (Emerging)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LangChain: Open-source framework for building agent chains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CrewAI: Multi-agent orchestration with role-based agents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AutoGen (Microsoft): Framework for conversational multi-agent systems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Relevance AI: Enterprise multi-agent platform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MindStudio: No-code AI agent builder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TIER 4: SPECIALIZED PM PLATFORMS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Statsig: Experimentation + feature flags + analytics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Datadog Experiments: Testing + observability (April 2026 launch)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GrowthBook: Open-source warehouse-native A/B testing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BUILD VS BUY DECISION: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Augmented: BUY (off-the-shelf tools, fast implementation)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Accelerated: BUILD on platforms (custom workflows on LangChain/CrewAI)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Semi-Autonomous: BUILD + PARTNER (custom + vendor platforms)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Recommendations: Immediate Next Steps (Next 30 Days)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FOR CTOs &amp; TECHNICAL LEADERS: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1. ASSESS CURRENT STATE (Week 1-2)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Audit current AI tool usage across PM team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Measure baseline productivity (time per workstream)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Identify high-value, low-risk workflows for initial AI deployment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Evaluate data infrastructure readiness (can AI access product data?)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2. SECURE QUICK WINS (Week 2-3)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Deploy meeting transcription (Otter.ai/Grain) - immediate 2-3 hrs/week savings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Provide ChatGPT/Claude access to all PMs - enable self-service experimentation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Run 2-day prompt engineering workshop for PM team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Start building shared prompt library for common PM tasks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3. PLAN PHASE 1 IMPLEMENTATION (Week 3-4)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Define 6-month Augmented stage rollout plan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Select 3 pilot workflows for deeper AI integration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Budget for tools, training, and potential architect hires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Create governance framework: quality standards, approval processes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4. INITIATE STRATEGIC PLANNING (Week 4)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Brief executive team on 3-stage transformation roadmap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Align CPO/VP Product on organizational impact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Plan communication strategy for PM team (address job security concerns)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Establish success metrics and ROI tracking methodology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EXPECTED OUTCOME: Foundation in place for Augmented stage deployment by Month 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Recommendations: 6-Month Execution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MONTH 1-2: FOUNDATION &amp; QUICK WINS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Deploy core AI tools (ChatGPT, Claude, transcription)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Complete PM training on prompt engineering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Establish baseline metrics and success criteria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Begin measuring time savings and quality improvements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MONTH 3-4: WORKFLOW INTEGRATION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Integrate AI into research synthesis (Dovetail, NotebookLM)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Deploy AI-assisted documentation (Notion AI, Confluence AI)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Enable AI analytics (SQL generation, basic insights)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Build shared prompt library with 50+ proven prompts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MONTH 5-6: OPTIMIZATION &amp; MEASUREMENT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Optimize workflows based on PM feedback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Measure impact: time saved, quality improvements, PM satisfaction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Identify top-performing vs struggling PMs (skill gap analysis)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Begin planning Accelerated stage (multi-agent pilots)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SUCCESS TARGETS BY MONTH 6: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80%+ PM daily AI usage rate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5-10 hours/week average time savings per PM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20-30% faster documentation and research synthesis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Zero additional PM headcount needed (absorb productivity into delivery)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✓ Pilot design complete for 3 multi-agent workflows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DECISION POINT AT MONTH 6: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Evaluate Augmented stage success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Go/no-go decision on Accelerated stage investment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Refine headcount and organizational structure plans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Conclusion: The Strategic Imperative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TRANSFORMATION IS INEVITABLE: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94% of PMs already use AI - the question is depth of integration, not adoption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986% growth in agentic AI roles signals where the market is heading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Organizations that move quickly will gain 2-3 year competitive advantage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BUSINESS CASE IS COMPELLING: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$2.6M investment over 3 years → $3-4M savings + 5-10x capacity increase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Faster time-to-market (20-70% depending on stage)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Higher quality outputs (AI processes more data, catches more edge cases)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ORGANIZATIONAL IMPACT IS SIGNIFICANT: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PM teams will shrink 30-70% but individual PMs will have 2-10x leverage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Remaining PMs must elevate to strategic leadership roles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New roles will emerge: AI Workflow Architect, Governance Lead, Agentic PM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RISK OF INACTION: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Competitors deploying AI-augmented PMs will ship faster and better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Best PMs will leave for organizations embracing AI (talent war)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• Falling behind in Augmented stage makes Accelerated catch-up nearly impossible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THE PATH FORWARD: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Start immediately with Augmented capabilities (low risk, high ROI)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Plan for Accelerated transition over 12-18 months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  → Monitor Semi-Autonomous developments but don't over-invest yet</a:t>
            </a:r>
          </a:p>
          <a:p>
            <a:pPr algn="l">
              <a:spcAft>
                <a:spcPts val="800"/>
              </a:spcAft>
            </a:pP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FINAL RECOMMENDATION: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Calibri"/>
              </a:rPr>
              <a:t>Begin Phase 1 implementation in next 30 days. The window for competitive advantage is closing.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F4E7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For additional details, see:</a:t>
            </a:r>
          </a:p>
          <a:p>
            <a:pPr algn="ctr"/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Full workstream analysis documents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Technical architecture diagrams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Detailed ROI calculations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Vendor evaluation matrices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• PM training curriculum</a:t>
            </a:r>
          </a:p>
          <a:p>
            <a:pPr algn="ctr"/>
          </a:p>
          <a:p>
            <a:pPr algn="ctr"/>
            <a:r>
              <a:rPr sz="1600" b="0">
                <a:solidFill>
                  <a:srgbClr val="000000"/>
                </a:solidFill>
                <a:latin typeface="Calibri"/>
              </a:rPr>
              <a:t>Contact: [Your Team]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